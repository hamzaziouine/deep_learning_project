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8288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INTERNATIONALE DE RABAT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4754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Supérieure de l'Ingénierie du Numérique  ·  Génie Informatique — IA &amp; Big Data · 4ème Année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0" y="78638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 DE FIN D'ÉTUDES — S8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0" y="1417320"/>
            <a:ext cx="9144000" cy="228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72768"/>
            <a:ext cx="8321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Multi-Agent pour l'Intelligence de Marché Produit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CrewAI hiérarchique et modèle RoBERTa fine-tuné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" y="2697480"/>
            <a:ext cx="25146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8660" y="2761488"/>
            <a:ext cx="402336" cy="402336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65860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Hamza Ziouine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65860" y="3017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 &amp; Orchestration Lead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14700" y="2697480"/>
            <a:ext cx="25146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4428" y="2761488"/>
            <a:ext cx="402336" cy="402336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442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81628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Nacir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1628" y="3017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Developer &amp; Integration Lead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30468" y="2697480"/>
            <a:ext cx="251460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0196" y="2761488"/>
            <a:ext cx="402336" cy="402336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0196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97396" y="2779776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 ElHouda Taroujena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97396" y="30175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 &amp; Documentation Lead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11480" y="3657600"/>
            <a:ext cx="1988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11480" y="3822192"/>
            <a:ext cx="1988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Hakim Hafidi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91740" y="3657600"/>
            <a:ext cx="1988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2491740" y="3822192"/>
            <a:ext cx="1988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 — S8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0" y="3657600"/>
            <a:ext cx="1988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572000" y="3822192"/>
            <a:ext cx="1988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B — Product Review Intelligence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52260" y="3657600"/>
            <a:ext cx="19888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652260" y="3822192"/>
            <a:ext cx="19888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2026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864608"/>
            <a:ext cx="9144000" cy="228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90575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 — Usage pédagogique UIR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PRÉSENTATION · 15 MIN + Q&amp;R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blocs, 5 idées, 0 transition perdue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52144"/>
            <a:ext cx="1572768" cy="210312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52144"/>
            <a:ext cx="157276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208" y="1737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21208" y="2157984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d'avis,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manuelle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7692" y="1152144"/>
            <a:ext cx="1572768" cy="2103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07692" y="1152144"/>
            <a:ext cx="157276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7420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217420" y="1737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17420" y="2157984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hiérarchique CrewAI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17420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03904" y="1152144"/>
            <a:ext cx="1572768" cy="2103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03904" y="1152144"/>
            <a:ext cx="157276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13632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913632" y="1737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13632" y="2157984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ablation DistilBERT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913632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500116" y="1152144"/>
            <a:ext cx="1572768" cy="2103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0116" y="1152144"/>
            <a:ext cx="157276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09844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09844" y="1737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609844" y="2157984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Stack, tests 30/30,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09844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4:00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96328" y="1152144"/>
            <a:ext cx="1572768" cy="2103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96328" y="1152144"/>
            <a:ext cx="157276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06056" y="131673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06056" y="173736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&amp; Conclusion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306056" y="2157984"/>
            <a:ext cx="13898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limites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perspectives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06056" y="2907792"/>
            <a:ext cx="1389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7228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bloc enchaîne sur le suivant — la démo et les limites sont gardées pour la fin, là où l'attention naturelle remonte.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· CONTEXTE E-COMMERCE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lit 280 avis par jour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143000"/>
            <a:ext cx="26517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52728"/>
            <a:ext cx="256032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≈280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9509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/ JOUR / PRODUIT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Top-1000 Amazon en catégorie active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227832" y="11430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143000"/>
            <a:ext cx="26517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252728"/>
            <a:ext cx="256032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73552" y="19509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ACHETEURS CONSULTENT ≥ 3 AVIS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319272" y="2514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Spiegel Research Center 2017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044184" y="1143000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44184" y="1143000"/>
            <a:ext cx="26517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9904" y="1252728"/>
            <a:ext cx="2560320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089904" y="19509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CONSOLIDÉ PME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35624" y="25146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Helium10/Jungle Scout = SEO seller-side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11480" y="2743200"/>
            <a:ext cx="50292" cy="80467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1772" y="2743200"/>
            <a:ext cx="8270748" cy="80467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" y="2834640"/>
            <a:ext cx="81061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Goulot d'étranglement clair : surcharge d'avis + veille manuelle = perte de signal (complaintes récurrentes, opportunités non détectées) pour tout marchand de niche ayant &gt; 10 SKU. Helium10 et Jungle Scout couvrent le seller-side (SEO, prix, volumes) mais aucun ne propose d'analyse review-side sémantique fine.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· CONTRAT FONCTIONNEL DU SYSTÈME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en entrée → rapport d'intelligence en sortie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94360" y="1298448"/>
            <a:ext cx="1444752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298448"/>
            <a:ext cx="1444752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9224" y="159105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texte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9224" y="193852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"wireless earbuds"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57400" y="1801368"/>
            <a:ext cx="146304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21992" y="1298448"/>
            <a:ext cx="1444752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1992" y="1298448"/>
            <a:ext cx="1444752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13432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76856" y="159105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web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76856" y="193852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+ snippets compétiteurs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85032" y="1801368"/>
            <a:ext cx="146304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9624" y="1298448"/>
            <a:ext cx="1444752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9624" y="1298448"/>
            <a:ext cx="1444752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1064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04488" y="159105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904488" y="193852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 fine-tuné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 POS/NEU/NEG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312664" y="1801368"/>
            <a:ext cx="146304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77256" y="1298448"/>
            <a:ext cx="1444752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7256" y="1298448"/>
            <a:ext cx="1444752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68696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32120" y="159105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+ HITL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532120" y="193852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CrewAI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humaine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940296" y="1801368"/>
            <a:ext cx="146304" cy="0"/>
          </a:xfrm>
          <a:prstGeom prst="line">
            <a:avLst/>
          </a:prstGeom>
          <a:noFill/>
          <a:ln w="19050">
            <a:solidFill>
              <a:srgbClr val="2563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04888" y="1298448"/>
            <a:ext cx="1444752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04888" y="1298448"/>
            <a:ext cx="1444752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1389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59752" y="159105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159752" y="1938528"/>
            <a:ext cx="1335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~350-400 mots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11480" y="2578608"/>
            <a:ext cx="50292" cy="6217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1772" y="2578608"/>
            <a:ext cx="8270748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" y="2670048"/>
            <a:ext cx="81244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FIXES DU RAPPORT GÉNÉRÉ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71500" y="2852928"/>
            <a:ext cx="81061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Summary  ·  Top Competitors  ·  Sentiment Breakdown  ·  Key Pain Points  ·  Opportunity Recommendation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MULTI-AGENT · USE CASE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d'ensemble — 3 acteurs, 4 cas d'usage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572000" cy="3246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77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[Diagramme de cas d'utilisation PlantUML]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207008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UC1: Lancer une analyse de niche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UC2: Spécifier la niche et la catégorie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UC3: Cartographier la concurrence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UC4: Analyser le sentiment client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UC5: Valider la synthèse (HITL)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UC6: Recevoir le rapport final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UC7: Consulter le journal JSONL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166360" y="109728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16652" y="109728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6380" y="118872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ACTEUR PRINCIPAL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326380" y="137160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marchand de niche lance une analyse depuis le CLI Python en passant la niche et la catégorie en argument.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66360" y="214884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16652" y="214884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26380" y="224028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HIÉRARCHIQUE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26380" y="242316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orchestre la délégation et la synthèse — il ne fait pas le travail lui-même.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166360" y="320040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6652" y="320040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6380" y="329184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STRICTE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26380" y="347472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→ Market Researcher pour la veille web. Manager → Sentiment Analyst pour la classification.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MODÈLE DE CLASSES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agents, 3 outils, 1 logger transverse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572000" cy="3246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4297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[Diagramme de classes PlantUML]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MainPipeline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agents/: MarketResearcher, SentimentAnalyst, Manager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tools/: WebSearchTool, ReviewLoaderTool, SentimentTool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utils/: AgentLogger (threading.Lock)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models/: TrainModule, PredictModule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66360" y="109728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6652" y="109728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6380" y="118872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TOOL ↔ AGENT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26380" y="137160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agent reçoit les tools via factory function. Aucun import direct entre agents.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214884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6652" y="214884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6380" y="224028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POLYMORPHES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26380" y="242316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héritent de CrewAI.Agent et exposent run(). Le manager est aussi un Agent.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320040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6652" y="320040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6380" y="329184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LOGGER INJECTÉ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26380" y="347472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AgentLogger passé à chaque tool via set_logger() — pas un singleton global, pas un attribut d'agent.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D'EXÉCUTION · SÉQUENCE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→ recherche → sentiment loop → synthèse → HITL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572000" cy="3246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4297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[Diagramme de séquence PlantUML]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crew.kickoff() → plan delegation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delegate market_research_task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search_market("wireless earbuds")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8 compétiteurs identifiés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delegate sentiment_analysis_task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load_product_reviews("Electronics", 50)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loop [for each review]: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analyze_sentiment(text) × 10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distribution POS/NEU/NEG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compose synthesis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hitl_checkpoint (human_input=True)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→ show draft → await approval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final report (Markdown)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66360" y="109728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6652" y="109728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6380" y="118872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 HEUREUX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26380" y="137160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délègue séquentiellement : recherche web d'abord, sentiment ensuite — dépendance contextuelle intentionnelle.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214884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6652" y="214884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6380" y="224028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SENTIMENT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26380" y="242316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sentiment_analyst boucle sur les 10 avis et appelle analyze_sentiment 10 fois. Distribution agrégée ensuite.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320040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6652" y="320040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6380" y="329184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HITL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26380" y="347472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la synthèse finale, le manager présente la preview complète à stdout et attend l'approbation. Mode --no-hitl disponible.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· LOCAL + CLOUD HYBRIDE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RoBERTa locale · LLM Gemini cloud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572000" cy="3246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88720"/>
            <a:ext cx="42976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[Diagramme de déploiement PlantUML]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local (Windows 11 + WSL + Git Bash)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Python 3.11 venv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PyTorch 2.6 + CUDA 12.4 (fp16)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CrewAI 1.14.4 (orchestration)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GPU NVIDIA RTX 3060 6GB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└─ RoBERTa-base fine-tuned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Disque local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data/processed/ · logs/ · outputs/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← HTTPS →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Google AI Studio API (Gemini 2.5 Flash)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HuggingFace Hub (roberta checkpoint)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DuckDuckGo Lite (DDGS search)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66360" y="109728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16652" y="109728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6380" y="118872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LOCALE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326380" y="137160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 tourne sur RTX 3060 6 GB en fp16. Pas d'aller-retour réseau pour le sentiment.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66360" y="214884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6652" y="214884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6380" y="224028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CLOUD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326380" y="242316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via Google AI Studio. ~0.05 USD/run avec billing activé.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166360" y="3200400"/>
            <a:ext cx="50292" cy="98755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6652" y="3200400"/>
            <a:ext cx="3515868" cy="98755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6380" y="329184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SEARCH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326380" y="3474720"/>
            <a:ext cx="335127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publique (DDGS) avec backoff exponentiel + rate-limit guard. Pas de clé API requise.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· MÉCANISME D'APPROBATION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humaine avant le rapport final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88720"/>
            <a:ext cx="292608" cy="29260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" y="117957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présente la synthèse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préliminaire avec les 5 sections attendues — basé sur la sortie combinée des 2 agents spécialisés.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92608" cy="29260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011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95528" y="2002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sur input() patché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de builtins.input qui normalise les tokens d'approbation en chaîne vide (CrewAI accepte uniquement "" comme approbation).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2834640"/>
            <a:ext cx="292608" cy="292608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95528" y="28254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Approbation → rapport final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5528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texte libre non-vide → re-prompt du manager avec feedback (boucle CrewAI native). Mode --no-hitl pour batch/CI.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28032" y="1143000"/>
            <a:ext cx="50292" cy="12801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78324" y="1143000"/>
            <a:ext cx="3854196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8052" y="1234440"/>
            <a:ext cx="37078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ACCEPTÉS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88052" y="1417320"/>
            <a:ext cx="36896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· approved · ok · okay · yes · 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valider · valide · validé · accord · (empty string)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828032" y="2487168"/>
            <a:ext cx="3904488" cy="157276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2560320"/>
            <a:ext cx="375818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_APPROVAL_TOKENS</a:t>
            </a:r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"", "approve", "approved",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"ok", "okay", "yes", "y",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"valider", "valide", "validé", "accord"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_patched_input</a:t>
            </a:r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(prompt=</a:t>
            </a:r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 = _orig_input(prompt)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raw.strip().lower() in _APPROVAL_TOKENS: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  </a:t>
            </a:r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CrewAI accepts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raw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MODÈLE DL · ABLATION DOCUMENTÉE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(baseline) → RoBERTa-base (production)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1261872"/>
        </p:xfrm>
        <a:graphic>
          <a:graphicData uri="http://schemas.openxmlformats.org/drawingml/2006/table">
            <a:tbl>
              <a:tblPr/>
              <a:tblGrid>
                <a:gridCol w="2651760"/>
                <a:gridCol w="777240"/>
                <a:gridCol w="841248"/>
                <a:gridCol w="841248"/>
                <a:gridCol w="3072384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DistilBERT-base-uncased (ablation)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79,59 %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Référence rapide, baseline solide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RoBERTa-base — FINAL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80,83 %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2D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+1,24 pp acc · +0,69 pp F1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 + class-weighted (rejeté)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76,11 %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8A96A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Sur-correction NEU (×2.5 weight), régression −4,7 pp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2578608"/>
            <a:ext cx="50292" cy="1508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" y="2578608"/>
            <a:ext cx="2650236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2670048"/>
            <a:ext cx="25039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ROBERTA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1500" y="2852928"/>
            <a:ext cx="24856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Tokenizer BPE + Whole-Word-Masking pré-entraîné sur 160 GB vs 16 GB pour DistilBERT → meilleur lexique e-commerce.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21736" y="2578608"/>
            <a:ext cx="50292" cy="1508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72028" y="2578608"/>
            <a:ext cx="2650236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1756" y="2670048"/>
            <a:ext cx="25039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INFÉRENCE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81756" y="2852928"/>
            <a:ext cx="24856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+67 % paramètres mais identique en RAM grâce à fp16 (RTX 3060 6 GB). Latence +12 ms par classification (acceptable).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31992" y="2578608"/>
            <a:ext cx="50292" cy="150876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82284" y="2578608"/>
            <a:ext cx="2650236" cy="15087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92012" y="2670048"/>
            <a:ext cx="25039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ANTI-OPTIMISATION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92012" y="2852928"/>
            <a:ext cx="2485644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ont été testés et abandonnés — documenté en §11 comme négatif finding pédagogique.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AMAZON REVIEWS 2018 · MCAULEY UCSD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71 612 avis filtrés, split équilibré stratifié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18872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~233 M avis bruts (étoiles 1–5)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Filtres qualité (≥10 mots, langue=EN, dédupli)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883664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71 612 avis Electronics + Beauty conservés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23113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Mappage étoiles → classe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578608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étoiles → NEGATIVE  ·  3 étoiles → NEUTRAL  ·  4–5 étoiles → POSITIVE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035808"/>
            <a:ext cx="13898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035808"/>
            <a:ext cx="138988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45536"/>
            <a:ext cx="1298448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35785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66344" y="393192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par classe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911096" y="3035808"/>
            <a:ext cx="13898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11096" y="3035808"/>
            <a:ext cx="138988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3145536"/>
            <a:ext cx="1298448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13 306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956816" y="35785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965960" y="393192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4 435 par classe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410712" y="3035808"/>
            <a:ext cx="138988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10712" y="3035808"/>
            <a:ext cx="1389888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145536"/>
            <a:ext cx="1298448" cy="437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13 306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56432" y="357859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65576" y="3931920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4 435 par classe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166360" y="1188720"/>
            <a:ext cx="50292" cy="13716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6652" y="1188720"/>
            <a:ext cx="3515868" cy="13716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26380" y="1280160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ACADÉMIQUE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326380" y="1463040"/>
            <a:ext cx="33512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Ni, Li &amp; McAuley (UCSD, 2019). Dataset public, usage recherche autorisé — pas de scraping.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retenues : Electronics + Beauty. Seed 42 fixé pour reproductibilité déterministe.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2633472"/>
            <a:ext cx="50292" cy="124358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16652" y="2633472"/>
            <a:ext cx="3515868" cy="1243584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26380" y="2724912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ÉQUILIBRAGE DES SPLITS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326380" y="2907792"/>
            <a:ext cx="33512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split contient exactement 15 K / 4 435 avis par classe. L'équilibrage évite le biais POSITIVE qui domine naturellement à 60 % dans le dataset brut.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 · HUGGINGFACE TRAINER · RTX 3060 6 GB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min, 4 époques, early-stopping sur l'époque 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33856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1887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4632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892808" y="1133856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65960" y="11887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GRAD_ACCUM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965960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74136" y="1133856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1887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BATCH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47288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" y="1792224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4632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2×10⁻⁵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92808" y="1792224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65960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965960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374136" y="1792224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7288" y="18470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 RATIO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7288" y="2011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11480" y="2450592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25054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84632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892808" y="2450592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25054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MAX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96596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374136" y="2450592"/>
            <a:ext cx="138988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47288" y="250545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447288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 2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1480" y="3090672"/>
            <a:ext cx="50292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" y="3090672"/>
            <a:ext cx="433882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" y="3182112"/>
            <a:ext cx="41925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CHECKPOINT : ÉPOQUE 1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71500" y="3364992"/>
            <a:ext cx="4174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val stagne, accuracy chute aux époques 2–4 (overfitting détecté). Le scheduler garde uniquement le meilleur ckpt.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166360" y="1133856"/>
            <a:ext cx="356616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39512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mémoire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59752" y="1188720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 / 6,0 GB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66360" y="1645920"/>
            <a:ext cx="356616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17007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59752" y="17007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166360" y="2157984"/>
            <a:ext cx="356616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39512" y="221284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 size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59752" y="221284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 MB (safetensors)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166360" y="2670048"/>
            <a:ext cx="356616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39512" y="2724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59752" y="272491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fixé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· TEST SET 13 306 AVIS · F1 PAR CLASSE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80,83 % accuracy · F1 macro 0,7686 · NEU = plafond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429768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704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Test Set (RoBERTa fine-tuned)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61288" y="1463040"/>
            <a:ext cx="914400" cy="658368"/>
          </a:xfrm>
          <a:prstGeom prst="rect">
            <a:avLst/>
          </a:prstGeom>
          <a:solidFill>
            <a:srgbClr val="0F2D52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61288" y="14630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3881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75688" y="1463040"/>
            <a:ext cx="9144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75688" y="14630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90088" y="1463040"/>
            <a:ext cx="91440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90088" y="146304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46304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61288" y="2121408"/>
            <a:ext cx="914400" cy="658368"/>
          </a:xfrm>
          <a:prstGeom prst="rect">
            <a:avLst/>
          </a:prstGeom>
          <a:solidFill>
            <a:srgbClr val="1A4B8C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61288" y="21214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075688" y="2121408"/>
            <a:ext cx="914400" cy="658368"/>
          </a:xfrm>
          <a:prstGeom prst="rect">
            <a:avLst/>
          </a:prstGeom>
          <a:solidFill>
            <a:srgbClr val="1E508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21214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90088" y="2121408"/>
            <a:ext cx="914400" cy="658368"/>
          </a:xfrm>
          <a:prstGeom prst="rect">
            <a:avLst/>
          </a:prstGeom>
          <a:solidFill>
            <a:srgbClr val="C8D8E8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0088" y="212140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212140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61288" y="2779776"/>
            <a:ext cx="914400" cy="658368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61288" y="27797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75688" y="2779776"/>
            <a:ext cx="914400" cy="658368"/>
          </a:xfrm>
          <a:prstGeom prst="rect">
            <a:avLst/>
          </a:prstGeom>
          <a:solidFill>
            <a:srgbClr val="C8D8E8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5688" y="27797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990088" y="2779776"/>
            <a:ext cx="914400" cy="658368"/>
          </a:xfrm>
          <a:prstGeom prst="rect">
            <a:avLst/>
          </a:prstGeom>
          <a:solidFill>
            <a:srgbClr val="0F2D52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0088" y="2779776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277977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61288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75688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990088" y="362102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166360" y="1115568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166360" y="1298448"/>
            <a:ext cx="3520440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66360" y="1298448"/>
            <a:ext cx="2851556" cy="237744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4956" y="12984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0,81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1572768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0,82 · R 0,82 · n=4 741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66360" y="1865376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166360" y="2048256"/>
            <a:ext cx="3520440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66360" y="2048256"/>
            <a:ext cx="3203600" cy="23774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47000" y="204825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0,91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322576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0,94 · R 0,88 · n=6 000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66360" y="2615184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166360" y="2798064"/>
            <a:ext cx="3520440" cy="237744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66360" y="2798064"/>
            <a:ext cx="2006651" cy="237744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50051" y="279806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0,57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3072384"/>
            <a:ext cx="3520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0,53 · R 0,62 · n=2 565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166360" y="3730752"/>
            <a:ext cx="50292" cy="56692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216652" y="3730752"/>
            <a:ext cx="3515868" cy="56692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26380" y="3822192"/>
            <a:ext cx="33695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= PLAFOND INHÉRENT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326380" y="4005072"/>
            <a:ext cx="3351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L'accord humain sur les avis 3 étoiles tombe à 60–70 %. F1=0,57 est cohérent avec la littérature SST-5 (Socher et al. 2013). Documenté comme limite reconnue, pas comme bug.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 · STACK &amp; QUALITÉ DE CODE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tests verts, 1 logger thread-safe, 6 composants alignés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0292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1772" y="1115568"/>
            <a:ext cx="2601468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" y="1207008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CONDA ENV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1500" y="1389888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stricte des wheels Windows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9544" y="1115568"/>
            <a:ext cx="50292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9836" y="1115568"/>
            <a:ext cx="2601468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9564" y="1207008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1.14.4 · HIERARCHICAL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69564" y="1389888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manager_agent= (pas manager_llm)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07608" y="1115568"/>
            <a:ext cx="50292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7900" y="1115568"/>
            <a:ext cx="2601468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7628" y="1207008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5.7 · PYTORCH 2.6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67628" y="1389888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RoBERTa-base · fp16 · CUDA 12.4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1956816"/>
            <a:ext cx="50292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" y="1956816"/>
            <a:ext cx="2601468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" y="2048256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30/30 · SMOKE GATED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71500" y="2231136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tools + logger + replay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9544" y="1956816"/>
            <a:ext cx="50292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59836" y="1956816"/>
            <a:ext cx="2601468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9564" y="2048256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JSONL · 8 EVENT TYPES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369564" y="2231136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· 1 fichier par run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07608" y="1956816"/>
            <a:ext cx="50292" cy="7498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57900" y="1956816"/>
            <a:ext cx="2601468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67628" y="2048256"/>
            <a:ext cx="24551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· FALLBACK REPLAY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167628" y="2231136"/>
            <a:ext cx="24368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trace brute en démo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11480" y="3236976"/>
            <a:ext cx="135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236976"/>
            <a:ext cx="13563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346704"/>
            <a:ext cx="1264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7200" y="3673693"/>
            <a:ext cx="126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PYTEST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04416" y="3236976"/>
            <a:ext cx="135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804416" y="3236976"/>
            <a:ext cx="13563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50136" y="3346704"/>
            <a:ext cx="1264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1850136" y="3673693"/>
            <a:ext cx="126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 JSONL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197352" y="3236976"/>
            <a:ext cx="135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197352" y="3236976"/>
            <a:ext cx="13563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3072" y="3346704"/>
            <a:ext cx="1264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243072" y="3673693"/>
            <a:ext cx="126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CREWAI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90288" y="3236976"/>
            <a:ext cx="135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90288" y="3236976"/>
            <a:ext cx="13563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3346704"/>
            <a:ext cx="1264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4636008" y="3673693"/>
            <a:ext cx="126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CUSTOM @TOOL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5983224" y="3236976"/>
            <a:ext cx="135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983224" y="3236976"/>
            <a:ext cx="13563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28944" y="3346704"/>
            <a:ext cx="1264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~1 200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028944" y="3673693"/>
            <a:ext cx="126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PYTHON (SRC/)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7376160" y="3236976"/>
            <a:ext cx="135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6DE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376160" y="3236976"/>
            <a:ext cx="1356360" cy="54864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21880" y="3346704"/>
            <a:ext cx="1264920" cy="342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 s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421880" y="3673693"/>
            <a:ext cx="126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 / RUN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 · 3 CHEMINS POUR L'EXAMINATEUR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Cloner, builder, ou tirer du Hub — au choix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26517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15568"/>
            <a:ext cx="2651760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" y="1188720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2070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complet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local, pyenv + pip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1792224"/>
            <a:ext cx="2468880" cy="1810512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1847088"/>
            <a:ext cx="23225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deep_learning_project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repo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.venv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requirements.lock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-tb=no -q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21208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 · ~2 GB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9544" y="1115568"/>
            <a:ext cx="26517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9544" y="1115568"/>
            <a:ext cx="2651760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1188720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58184" y="12070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9272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totale, Dockerfile fourni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00984" y="1792224"/>
            <a:ext cx="2468880" cy="1810512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74136" y="1847088"/>
            <a:ext cx="23225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dlp 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-it --rm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GEMINI_API_KEY=&lt;key&gt;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$(pwd)/outputs:/app/outputs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dlp python -m src.main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--niche "wireless earbuds"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319272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· ~4 GB image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07608" y="1115568"/>
            <a:ext cx="2651760" cy="31089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07608" y="1115568"/>
            <a:ext cx="2651760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35624" y="1188720"/>
            <a:ext cx="347472" cy="34747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56248" y="1207008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 HF Hub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17336" y="155448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Saute le ré-entraînement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99048" y="1792224"/>
            <a:ext cx="2468880" cy="1810512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1847088"/>
            <a:ext cx="232257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download_model.py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pulls hamzaziouine/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dlp-product-review-roberta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src.main \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--niche "&lt;your-niche&gt;"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117336" y="3657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· ~500 MB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11480" y="47228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requirements.lock contient les versions exactes des 87 dépendances transitives (pip freeze post-install). Pas de surprise lors d'un rebuild en 2027.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— AVANT · NICHE ELECTRONICS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wireless earbuds » · 5 sections, ~70 s, 0.05 USD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303520" cy="3108960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115568"/>
            <a:ext cx="53035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1556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powershell · dlp@RTX3060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140817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PS&gt; </a:t>
            </a:r>
            <a:pPr indent="0" marL="0">
              <a:buNone/>
            </a:pPr>
            <a:r>
              <a:rPr lang="en-US" sz="78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src.main \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21208" y="159105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78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--niche "wireless earbuds" \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521208" y="177393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780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--category Electronics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521208" y="195681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[14:23:01]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Logger ready → logs/agent_20260525T142301Z.jsonl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21208" y="213969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[14:23:01]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Gemini 2.5 Flash · LITELLM_CACHE=disk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21208" y="232257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[14:23:02]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Crew start · 3 agents · hierarchical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21208" y="250545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[14:23:08] ▶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market_researcher.search_market("wireless earbuds")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521208" y="268833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[14:23:17] ↳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compétiteurs identifiés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521208" y="287121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[14:23:18] ▶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sentiment_analyst.load_product_reviews(...)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21208" y="305409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[14:23:19] ↳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avis chargés (Electronics sample)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521208" y="323697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[14:23:22] ▶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sentiment_analyst.analyze_sentiment(...) × 10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521208" y="341985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0B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[14:24:01] ↳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 POS/NEU/NEG calculée</a:t>
            </a:r>
            <a:endParaRPr lang="en-US" sz="780" dirty="0"/>
          </a:p>
        </p:txBody>
      </p:sp>
      <p:sp>
        <p:nvSpPr>
          <p:cNvPr id="22" name="Text 20"/>
          <p:cNvSpPr/>
          <p:nvPr/>
        </p:nvSpPr>
        <p:spPr>
          <a:xfrm>
            <a:off x="521208" y="3602736"/>
            <a:ext cx="5084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[14:24:08] ⏸ </a:t>
            </a:r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HITL pause — Synthesis preview ready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577840" y="1115568"/>
            <a:ext cx="50292" cy="146304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8132" y="1115568"/>
            <a:ext cx="3104388" cy="146304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7860" y="1207008"/>
            <a:ext cx="2958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L'EXAMINATEUR VA VOIR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737860" y="1389888"/>
            <a:ext cx="293979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Markdown bien numérotées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~350–400 mots de synthèse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HITL claire avec prompt « accept changes? »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JSONL complet dans logs/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577840" y="2651760"/>
            <a:ext cx="50292" cy="15727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28132" y="2651760"/>
            <a:ext cx="3104388" cy="1572768"/>
          </a:xfrm>
          <a:prstGeom prst="rect">
            <a:avLst/>
          </a:prstGeom>
          <a:solidFill>
            <a:srgbClr val="FFFBEB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7860" y="2743200"/>
            <a:ext cx="2958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GEMINI 429 OU WI-FI DROP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737860" y="2926080"/>
            <a:ext cx="29397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-m src.main --replay \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demo/wireless_earbuds_demo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appel LLM. Lit la run sauvegardée. Try/except wrap détecte l'échec et redirige automatiquement.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LIVE — APRÈS · RÉSULTAT DE LA RUN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 10 / 20 POS/NEU/NEG · 358 mots · 67,9 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1521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389888"/>
            <a:ext cx="5303520" cy="292608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389888"/>
            <a:ext cx="3712464" cy="29260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138988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71907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avis · « great sound », « comfortable », « long battery »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19568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194560"/>
            <a:ext cx="5303520" cy="292608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94560"/>
            <a:ext cx="530352" cy="292608"/>
          </a:xfrm>
          <a:prstGeom prst="rect">
            <a:avLst/>
          </a:prstGeom>
          <a:solidFill>
            <a:srgbClr val="8A96A3"/>
          </a:solidFill>
          <a:ln w="12700">
            <a:solidFill>
              <a:srgbClr val="8A96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21945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2523744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avis · « works as expected »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276148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999232"/>
            <a:ext cx="5303520" cy="292608"/>
          </a:xfrm>
          <a:prstGeom prst="rect">
            <a:avLst/>
          </a:prstGeom>
          <a:solidFill>
            <a:srgbClr val="E8ECF0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999232"/>
            <a:ext cx="1060704" cy="2926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299923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28416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avis · « charging case dies », « bluetooth disconnects »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11480" y="360273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avis UNCERTAIN (confidence &lt; 0,6) — honnêteté plutôt que faux signal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715000" y="1152144"/>
            <a:ext cx="30175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88152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time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51192" y="1207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67,9 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15000" y="1682496"/>
            <a:ext cx="30175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88152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Gemini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51192" y="17373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~0,05 USD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715000" y="2212848"/>
            <a:ext cx="30175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8152" y="2267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size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51192" y="226771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358 mots / 1,9 KB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15000" y="2743200"/>
            <a:ext cx="30175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8152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Extrapolé 1K runs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51192" y="27980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USD / mois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715000" y="3273552"/>
            <a:ext cx="30175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3328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viability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51192" y="332841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rentable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RECONNUES · §11 DISCUSSION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limites assumées, pas cachées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133856"/>
            <a:ext cx="329184" cy="8595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33856"/>
            <a:ext cx="329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40664" y="1133856"/>
            <a:ext cx="7991856" cy="85953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1887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80,83 % vs 85 % du cahier des charges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0392" y="140817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inhérent NEUTRAL (accord humain 60–70 % sur avis 3 étoiles). Littérature SST-5 plafonne à 82–85 % avec DeBERTa-v3. Notre 80,83 % est cohérent.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83480" y="11887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: DeBERTa-v3 + ensemble pondéré → cible 85 % (court terme).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057400"/>
            <a:ext cx="329184" cy="8595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57400"/>
            <a:ext cx="329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" y="2057400"/>
            <a:ext cx="7991856" cy="85953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11226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Anglais uniquement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0392" y="233172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Amazon Reviews 2018 EN. Pas de transfert FR/AR/ES sans fine-tuning supplémentaire.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83480" y="21122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: XLM-RoBERTa pour multilingue (moyen terme).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980944"/>
            <a:ext cx="329184" cy="8595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80944"/>
            <a:ext cx="329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" y="2980944"/>
            <a:ext cx="7991856" cy="85953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392" y="303580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Gemini gratuit limité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50392" y="325526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req/jour sur gemini-2.5-flash free tier. Mitigé par billing personnel (~0,05 USD/run).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30358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: Swap vers gemini-flash-latest ou modèle local LLaMA 3.1.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904488"/>
            <a:ext cx="329184" cy="859536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04488"/>
            <a:ext cx="3291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" y="3904488"/>
            <a:ext cx="7991856" cy="859536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" y="39593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Inférence sérielle, pas batch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50392" y="417880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appel forward par avis (10 avis · 4 ms = 40 ms). Batch inférence diviserait la latence par 4.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83480" y="395935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: Refactor sentiment_tool en batch (1 jour de dev).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" y="472287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Honnêteté &gt; excuses : les 4 limites sont annoncées en §11, pas dissimulées. Une limite reconnue avec une roadmap = signal de maturité ingénieur.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0F2D52"/>
          </a:solidFill>
          <a:ln w="12700">
            <a:solidFill>
              <a:srgbClr val="0F2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DLP — Système Multi-Agent pour l'Intelligence de Marché Produit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11480" y="45720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+ PERSPECTIVES · LIVRABLE COMPLET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6400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 critères du cahier — 1 partiel sur précision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15568"/>
          <a:ext cx="8321040" cy="2212848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4251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Preuve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5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Système multi-agent fonctionnel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agents CrewAI hiérarchique, 2 runs canoniques sauvegardés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DL fine-tuné (3 classes)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RoBERTa-base · 80,83 % · checkpoint HF Hub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≥ 85 % sur test 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80,83 % — plafond inhérent NEUTRAL (cf. §11)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HITL — pause humaine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builtins.input patché + tokens FR/EN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Logging structuré + traçabilité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JSONL thread-safe · 8 event types · 1 fichier / run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Rapport académique + UML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sections FR · 5 diagrammes PlantUML rendus PNG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0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Reproductibilité + déploiement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563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DONE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requirements.lock · Dockerfile · HF Hub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0D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547872"/>
            <a:ext cx="50292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" y="3547872"/>
            <a:ext cx="266242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3639312"/>
            <a:ext cx="2516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71500" y="3822192"/>
            <a:ext cx="2497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DeBERTa-v3 + ensemble pondéré → cible 85 %+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15640" y="3547872"/>
            <a:ext cx="50292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5932" y="3547872"/>
            <a:ext cx="266242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75660" y="3639312"/>
            <a:ext cx="2516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375660" y="3822192"/>
            <a:ext cx="2497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Shopify App · multilingue XLM-RoBERTa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019800" y="3547872"/>
            <a:ext cx="50292" cy="658368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70092" y="3547872"/>
            <a:ext cx="2662428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6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9820" y="3639312"/>
            <a:ext cx="2516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179820" y="3822192"/>
            <a:ext cx="2497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RLHF sur corrections HITL pour fine-tuning continu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" y="492404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UIR — ESIN 4A — Génie Informatique / IA &amp; Big Data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5943600" y="4924044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: Pr. Hakim Hafidi  ·  Mai 2026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Merci.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184708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Réponses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2487168"/>
            <a:ext cx="246888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487168"/>
            <a:ext cx="2468880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25603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RÉPONDRE SUR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" y="27614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CrewAI hiérarchique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RoBERTa vs DistilBERT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 NEUTRAL F1=0,57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2487168"/>
            <a:ext cx="246888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2487168"/>
            <a:ext cx="2468880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25603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DISPONIBLE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465576" y="27614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: python -m src.main --niche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: --replay demo/wireless_earbuds_demo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JSONL traçables event-by-event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89320" y="2487168"/>
            <a:ext cx="2468880" cy="1261872"/>
          </a:xfrm>
          <a:prstGeom prst="rect">
            <a:avLst/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89320" y="2487168"/>
            <a:ext cx="2468880" cy="50292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17336" y="256032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PUBLIC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117336" y="2761488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github.com/hamzaziouine/deep_learning_project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: dlp-product-review-roberta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image build &lt; 5 min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796028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Hakim Hafidi · équipe pédagogique UIR · communauté open source (HuggingFace, CrewAI, PyTorch)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0" y="5486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Système Multi-Agent pour l'Intelligence de Marché Produit</dc:title>
  <dc:subject>PptxGenJS Presentation</dc:subject>
  <dc:creator>Ziouine · Nacir · Taroujena</dc:creator>
  <cp:lastModifiedBy>Ziouine · Nacir · Taroujena</cp:lastModifiedBy>
  <cp:revision>1</cp:revision>
  <dcterms:created xsi:type="dcterms:W3CDTF">2026-05-25T17:44:19Z</dcterms:created>
  <dcterms:modified xsi:type="dcterms:W3CDTF">2026-05-25T17:44:19Z</dcterms:modified>
</cp:coreProperties>
</file>